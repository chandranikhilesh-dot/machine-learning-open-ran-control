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PRB utilization forecast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16:30</c:v>
                  </c:pt>
                  <c:pt idx="1">
                    <c:v>16:45</c:v>
                  </c:pt>
                  <c:pt idx="2">
                    <c:v>17:00</c:v>
                  </c:pt>
                  <c:pt idx="3">
                    <c:v>17:15</c:v>
                  </c:pt>
                  <c:pt idx="4">
                    <c:v>17:30</c:v>
                  </c:pt>
                  <c:pt idx="5">
                    <c:v>17:45</c:v>
                  </c:pt>
                  <c:pt idx="6">
                    <c:v>18:00</c:v>
                  </c:pt>
                  <c:pt idx="7">
                    <c:v>18:15</c:v>
                  </c:pt>
                  <c:pt idx="8">
                    <c:v>18:30</c:v>
                  </c:pt>
                  <c:pt idx="9">
                    <c:v>18:45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75.83</c:v>
                </c:pt>
                <c:pt idx="1">
                  <c:v>73.25</c:v>
                </c:pt>
                <c:pt idx="2">
                  <c:v>73.54</c:v>
                </c:pt>
                <c:pt idx="3">
                  <c:v>75.96</c:v>
                </c:pt>
                <c:pt idx="4">
                  <c:v>73.59</c:v>
                </c:pt>
                <c:pt idx="5">
                  <c:v>70.56</c:v>
                </c:pt>
                <c:pt idx="6">
                  <c:v>71.09</c:v>
                </c:pt>
                <c:pt idx="7">
                  <c:v>70.56</c:v>
                </c:pt>
                <c:pt idx="8">
                  <c:v>68.71</c:v>
                </c:pt>
                <c:pt idx="9">
                  <c:v>67.32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 (median)</c:v>
                </c:pt>
              </c:strCache>
            </c:strRef>
          </c:tx>
          <c:spPr>
            <a:solidFill>
              <a:srgbClr val="0B2545"/>
            </a:solidFill>
            <a:ln w="2540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16:30</c:v>
                  </c:pt>
                  <c:pt idx="1">
                    <c:v>16:45</c:v>
                  </c:pt>
                  <c:pt idx="2">
                    <c:v>17:00</c:v>
                  </c:pt>
                  <c:pt idx="3">
                    <c:v>17:15</c:v>
                  </c:pt>
                  <c:pt idx="4">
                    <c:v>17:30</c:v>
                  </c:pt>
                  <c:pt idx="5">
                    <c:v>17:45</c:v>
                  </c:pt>
                  <c:pt idx="6">
                    <c:v>18:00</c:v>
                  </c:pt>
                  <c:pt idx="7">
                    <c:v>18:15</c:v>
                  </c:pt>
                  <c:pt idx="8">
                    <c:v>18:30</c:v>
                  </c:pt>
                  <c:pt idx="9">
                    <c:v>18:45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72.41</c:v>
                </c:pt>
                <c:pt idx="1">
                  <c:v>70.64</c:v>
                </c:pt>
                <c:pt idx="2">
                  <c:v>69.32</c:v>
                </c:pt>
                <c:pt idx="3">
                  <c:v>68.9</c:v>
                </c:pt>
                <c:pt idx="4">
                  <c:v>70.13</c:v>
                </c:pt>
                <c:pt idx="5">
                  <c:v>68.59</c:v>
                </c:pt>
                <c:pt idx="6">
                  <c:v>65.79</c:v>
                </c:pt>
                <c:pt idx="7">
                  <c:v>67.39</c:v>
                </c:pt>
                <c:pt idx="8">
                  <c:v>65.06</c:v>
                </c:pt>
                <c:pt idx="9">
                  <c:v>64.69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P10</c:v>
                </c:pt>
              </c:strCache>
            </c:strRef>
          </c:tx>
          <c:spPr>
            <a:solidFill>
              <a:srgbClr val="00A6C8"/>
            </a:solidFill>
            <a:ln w="25400" cap="flat">
              <a:solidFill>
                <a:srgbClr val="00A6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0A6C8"/>
              </a:solidFill>
              <a:ln w="9525" cap="flat">
                <a:solidFill>
                  <a:srgbClr val="00A6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16:30</c:v>
                  </c:pt>
                  <c:pt idx="1">
                    <c:v>16:45</c:v>
                  </c:pt>
                  <c:pt idx="2">
                    <c:v>17:00</c:v>
                  </c:pt>
                  <c:pt idx="3">
                    <c:v>17:15</c:v>
                  </c:pt>
                  <c:pt idx="4">
                    <c:v>17:30</c:v>
                  </c:pt>
                  <c:pt idx="5">
                    <c:v>17:45</c:v>
                  </c:pt>
                  <c:pt idx="6">
                    <c:v>18:00</c:v>
                  </c:pt>
                  <c:pt idx="7">
                    <c:v>18:15</c:v>
                  </c:pt>
                  <c:pt idx="8">
                    <c:v>18:30</c:v>
                  </c:pt>
                  <c:pt idx="9">
                    <c:v>18:45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69.03</c:v>
                </c:pt>
                <c:pt idx="1">
                  <c:v>68.75</c:v>
                </c:pt>
                <c:pt idx="2">
                  <c:v>64.8</c:v>
                </c:pt>
                <c:pt idx="3">
                  <c:v>67.18</c:v>
                </c:pt>
                <c:pt idx="4">
                  <c:v>66.17</c:v>
                </c:pt>
                <c:pt idx="5">
                  <c:v>63.43</c:v>
                </c:pt>
                <c:pt idx="6">
                  <c:v>62.74</c:v>
                </c:pt>
                <c:pt idx="7">
                  <c:v>63.19</c:v>
                </c:pt>
                <c:pt idx="8">
                  <c:v>60.67</c:v>
                </c:pt>
                <c:pt idx="9">
                  <c:v>61.2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Moderate threshold (75 %)</c:v>
                </c:pt>
              </c:strCache>
            </c:strRef>
          </c:tx>
          <c:spPr>
            <a:solidFill>
              <a:srgbClr val="D9534F"/>
            </a:solidFill>
            <a:ln w="25400" cap="flat">
              <a:solidFill>
                <a:srgbClr val="D953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9534F"/>
              </a:solidFill>
              <a:ln w="9525" cap="flat">
                <a:solidFill>
                  <a:srgbClr val="D953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16:30</c:v>
                  </c:pt>
                  <c:pt idx="1">
                    <c:v>16:45</c:v>
                  </c:pt>
                  <c:pt idx="2">
                    <c:v>17:00</c:v>
                  </c:pt>
                  <c:pt idx="3">
                    <c:v>17:15</c:v>
                  </c:pt>
                  <c:pt idx="4">
                    <c:v>17:30</c:v>
                  </c:pt>
                  <c:pt idx="5">
                    <c:v>17:45</c:v>
                  </c:pt>
                  <c:pt idx="6">
                    <c:v>18:00</c:v>
                  </c:pt>
                  <c:pt idx="7">
                    <c:v>18:15</c:v>
                  </c:pt>
                  <c:pt idx="8">
                    <c:v>18:30</c:v>
                  </c:pt>
                  <c:pt idx="9">
                    <c:v>18:45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  <c:pt idx="6">
                  <c:v>75</c:v>
                </c:pt>
                <c:pt idx="7">
                  <c:v>75</c:v>
                </c:pt>
                <c:pt idx="8">
                  <c:v>75</c:v>
                </c:pt>
                <c:pt idx="9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6035040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"/>
            <a:ext cx="868680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234440"/>
            <a:ext cx="9144000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ECE  ·  AI / ML  ·  NETWORK INTELLIGENCE  ·  A.Y. 2026-27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Fusion Transformer–Based Multi-KPI Forecasting for Open RAN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network conditions early to support proactive control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4389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Chandra Nikhilesh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Sujeeth Reddy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Sai Charan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1206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120640" y="36393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&lt;Guide Name&gt;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&lt;Designation, Department&gt;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prototype  ·  Simulated KPI data  ·  3-hour forecast horizon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network KPIs before taking action?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2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06040" cy="2331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14923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traffic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demand changes over time. Busy periods increase radio-resource use and delay.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64408" y="1188720"/>
            <a:ext cx="2606040" cy="2331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93008" y="13716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709" y="14923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response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493008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operators react only after congestion appears, users may already experience poor service.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71616" y="1188720"/>
            <a:ext cx="2606040" cy="2331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00216" y="13716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14923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0216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KPIs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300216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latency, packet loss and radio-resource use change together, so forecasting one KPI alone misses part of the picture.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several future KPIs and flag possible overload early, so action can be taken before users are affected.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Project Scope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forecasting prototype, not a live network controller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3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8930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5 KPIs over the next 3 hours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9751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12 h of history sampled every 15 min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6609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P10 / P50 / P90 to communicate uncertainty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34670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246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forecasts with thresholds and show warning levels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403250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72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validation with real 4G / 5G measurements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120640" y="1188720"/>
            <a:ext cx="356616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325880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71500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now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5303520" y="1664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pipeline, simulated dataset, forecasting dashboard and threshold-based alerts.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5120640" y="2331720"/>
            <a:ext cx="356616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468880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15000" y="2441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 yet</a:t>
            </a:r>
            <a:endParaRPr lang="en-US" sz="1350" dirty="0"/>
          </a:p>
        </p:txBody>
      </p:sp>
      <p:sp>
        <p:nvSpPr>
          <p:cNvPr id="28" name="Text 18"/>
          <p:cNvSpPr txBox="1"/>
          <p:nvPr/>
        </p:nvSpPr>
        <p:spPr>
          <a:xfrm>
            <a:off x="5303520" y="2807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operator feed, live radio measurements or automatic RIC / xApp control.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5120640" y="3474720"/>
            <a:ext cx="356616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611880"/>
            <a:ext cx="310896" cy="31089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715000" y="3584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stage</a:t>
            </a:r>
            <a:endParaRPr lang="en-US" sz="1350" dirty="0"/>
          </a:p>
        </p:txBody>
      </p:sp>
      <p:sp>
        <p:nvSpPr>
          <p:cNvPr id="32" name="Text 21"/>
          <p:cNvSpPr txBox="1"/>
          <p:nvPr/>
        </p:nvSpPr>
        <p:spPr>
          <a:xfrm>
            <a:off x="5303520" y="3950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documented real data, then test safe control recommendations.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KPIs and Dataset Preparation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= Key Performance Indicator, a measurement of network behaviour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4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252728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" y="134526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Mbps · data delivered per second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64408" y="1143000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74136" y="1252728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673" y="1345265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04488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· time for data to travel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71616" y="1143000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81344" y="1252728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81" y="1345265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11696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packets that fail to arrive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57200" y="1892808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66928" y="2002536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" y="2095073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18928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utilization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radio capacity in use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264408" y="1892808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374136" y="2002536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6673" y="2095073"/>
            <a:ext cx="235549" cy="23554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904488" y="18928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active user devices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071616" y="1892808"/>
            <a:ext cx="2606040" cy="6400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181344" y="2002536"/>
            <a:ext cx="420624" cy="420624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881" y="2095073"/>
            <a:ext cx="235549" cy="235549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711696" y="18928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records in time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" y="2724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dataset is produced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063240"/>
            <a:ext cx="1874520" cy="7315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566928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Python script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src/generate_data.py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2359152" y="342900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2578608" y="3063240"/>
            <a:ext cx="1874520" cy="7315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2688336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CSV file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data/oran_kpis.csv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4480560" y="342900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4700016" y="3063240"/>
            <a:ext cx="1874520" cy="7315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4809744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Records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rows · 15-min steps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6601968" y="3429000"/>
            <a:ext cx="19202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6821424" y="3063240"/>
            <a:ext cx="1874520" cy="731520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6931152" y="3063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Model input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KPI history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142232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51560" y="3977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is generated by our Python script. It is simulated data, not confirmed live telecom measurements. Future work: validate with a documented public RAN dataset.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Temporal Fusion Transformer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history → learn temporal patterns → predict future ranges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5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82880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observed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· last 48 steps (12 h)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182880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965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future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of the next 12 steps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/ cell identifier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1874520"/>
            <a:ext cx="4114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69748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Selection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inputs matter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8736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5196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Encoder–Decoder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25196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temporal patterns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4184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0644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0644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9632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60920" y="1417320"/>
            <a:ext cx="1371600" cy="914400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6092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Output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60920" y="2395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/ P50 / P90 for 5 KPIs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97480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residual layers connect the blocks and skip parts that are not needed.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474720"/>
            <a:ext cx="4023360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739896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234440" y="3593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TFT?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234440" y="3904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multi-horizon time-series forecasting; combines recurrent temporal learning with attention and handles several KPIs together.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4663440" y="3474720"/>
            <a:ext cx="4023360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46320" y="3639312"/>
            <a:ext cx="457200" cy="457200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739896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440680" y="3593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quantiles?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5440680" y="3904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is the central forecast. P10–P90 shows a range, and P90 supports cautious threshold checks.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 &amp; Implementation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simulated KPIs to a forecasting dashboard with load warnings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6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517904" cy="14630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8408" y="1261872"/>
            <a:ext cx="475488" cy="475488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15" y="1366479"/>
            <a:ext cx="266273" cy="2662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17830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30352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steps · 12 h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993392" y="1874520"/>
            <a:ext cx="11887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130552" y="1143000"/>
            <a:ext cx="1517904" cy="14630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51760" y="1261872"/>
            <a:ext cx="475488" cy="475488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367" y="1366479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76272" y="17830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203704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scale values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66744" y="1874520"/>
            <a:ext cx="11887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3803904" y="1143000"/>
            <a:ext cx="1517904" cy="14630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325112" y="1261872"/>
            <a:ext cx="475488" cy="475488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719" y="1366479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849624" y="17830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TFT model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3877056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temporal and KPI patterns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340096" y="1874520"/>
            <a:ext cx="11887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477256" y="1143000"/>
            <a:ext cx="1517904" cy="14630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98464" y="1261872"/>
            <a:ext cx="475488" cy="475488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071" y="1366479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22976" y="17830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550408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steps ahead · 3 h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013448" y="1874520"/>
            <a:ext cx="11887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7150608" y="1143000"/>
            <a:ext cx="1517904" cy="1463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671816" y="1261872"/>
            <a:ext cx="475488" cy="475488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423" y="1366479"/>
            <a:ext cx="266273" cy="26627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196328" y="178308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2237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 and alerts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detection logic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457200" y="3127248"/>
            <a:ext cx="4846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566928" y="3127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Forecast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737360" y="3127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PRB utilization and latency, including P90.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457200" y="3648456"/>
            <a:ext cx="4846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566928" y="36484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Compare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737360" y="36484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P90 forecast against warning thresholds.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457200" y="4169664"/>
            <a:ext cx="4846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566928" y="4169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Warn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1737360" y="41696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load warning so the operator can investigate early.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55778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thresholds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127248"/>
          <a:ext cx="3108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PRB utilization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Text 38"/>
          <p:cNvSpPr txBox="1"/>
          <p:nvPr/>
        </p:nvSpPr>
        <p:spPr>
          <a:xfrm>
            <a:off x="557784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values, not 4G/5G standards. An alert means risk, not proof of overload.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Forecasting Dashboard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output on simulated data · forecast issued 17 Sep 2026, 16:00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7 / 10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0789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194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latest KPIs (15:45) and the automatic load warning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87168"/>
            <a:ext cx="4572000" cy="20025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4507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forecast, 16:00–18:45: P50 line with P10–P90 band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257800" y="2487168"/>
            <a:ext cx="3429000" cy="21945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413248" y="2560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dashboard tells us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5413248" y="28803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load is high: PRB 82–93 % and latency 38–51 ms between 13:30 and 15:45.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P50 is expected to rise slightly, from 86.5 to 88.6 Mbps.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reaches PRB 76.7 % and latency 37.2 ms, above the moderate thresholds but below the high ones.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MODERATE LOAD warning (monitor closely).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3-Hour Multi-KPI Forecast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/ P50 / P90 for every KPI, 12 steps of 15 minutes each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8 / 10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813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values copied from the dashboard's forecast table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97280"/>
          <a:ext cx="379476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58368"/>
                <a:gridCol w="621792"/>
                <a:gridCol w="640080"/>
                <a:gridCol w="640080"/>
                <a:gridCol w="66751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Thr. 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Lat. 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PRB P90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UEs 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18:45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892040" y="2926080"/>
            <a:ext cx="3794760" cy="512064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983480" y="292608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−7.7 pts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943600" y="292608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P50 falls from 72.4 % to 64.7 %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892040" y="3529584"/>
            <a:ext cx="3794760" cy="512064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983480" y="352958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−2.3 ms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943600" y="35295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 falls from 34.1 to 31.8 ms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92040" y="4133088"/>
            <a:ext cx="3794760" cy="512064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983480" y="413308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−15 %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413308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UEs P50 fall from 764 to 650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4096512"/>
            <a:ext cx="420624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40965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is expected to ease after the busy period, but P90 stays near 75 % until about 17:15.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Evaluation, Progress &amp; Remaining Work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interpreted in the context of simulated data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18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Open RAN   |   9 /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298448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99032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70432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TFT with persistence and LSTM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64408" y="1143000"/>
            <a:ext cx="260604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01568" y="1298448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39903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RMSE: lower is better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71616" y="1143000"/>
            <a:ext cx="260604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08776" y="1298448"/>
            <a:ext cx="457200" cy="457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9903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84848" y="1143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actual values fall in P10–P90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2103120"/>
            <a:ext cx="4023360" cy="2560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2240280"/>
            <a:ext cx="438912" cy="438912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1" y="2336841"/>
            <a:ext cx="245791" cy="24579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07008" y="2240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" y="27889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KPI data generation (1,600 records)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forecasts with P10 / P50 / P90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KPI cards, charts and tables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load warnings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2103120"/>
            <a:ext cx="4023360" cy="2560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46320" y="2240280"/>
            <a:ext cx="438912" cy="43891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881" y="2336841"/>
            <a:ext cx="245791" cy="24579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13248" y="2240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4892040" y="27889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documented public RAN dataset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evaluation: MAE, RMSE and coverage vs baselines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model and measure warning lead 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safe control recommendations (RIC / xApp)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65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five KPIs up to 3 hours ahead from a 12-hour input window.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P10 / P50 / P90 ranges and flags possible high load early.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prototype uses Python-generated simulated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 on real RAN data, tune the model and evaluate warning lead time.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0" y="1371600"/>
            <a:ext cx="3200400" cy="17830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23560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17830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Lim, B. et al. (2021). Temporal Fusion Transformers for interpretable multi-horizon time series forecasting. Int. J. of Forecasting.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VERGE / CTTC, OAI RAN KPM dataset: github.com/VERGE-PROJECT/OAI_RAN_KPM_dataset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O-RAN Software Community, RIC application docs: docs.o-ran-sc.org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Fusion Transformer-Based Multi-KPI Forecasting for Open RAN</dc:title>
  <dc:subject>PptxGenJS Presentation</dc:subject>
  <dc:creator>PptxGenJS</dc:creator>
  <cp:lastModifiedBy>PptxGenJS</cp:lastModifiedBy>
  <cp:revision>1</cp:revision>
  <dcterms:created xsi:type="dcterms:W3CDTF">2026-10-15T04:00:40Z</dcterms:created>
  <dcterms:modified xsi:type="dcterms:W3CDTF">2026-10-15T04:00:40Z</dcterms:modified>
</cp:coreProperties>
</file>