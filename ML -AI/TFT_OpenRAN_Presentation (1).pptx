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Mean normalised MAE, test set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Normalised MAE</c:v>
                </c:pt>
              </c:strCache>
            </c:strRef>
          </c:tx>
          <c:spPr>
            <a:solidFill>
              <a:srgbClr val="9AA8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8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8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F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6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Seasonal naive</c:v>
                  </c:pt>
                  <c:pt idx="1">
                    <c:v>Persistence</c:v>
                  </c:pt>
                  <c:pt idx="2">
                    <c:v>LSTM</c:v>
                  </c:pt>
                  <c:pt idx="3">
                    <c:v>TFT (ours)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0.745</c:v>
                </c:pt>
                <c:pt idx="1">
                  <c:v>0.708</c:v>
                </c:pt>
                <c:pt idx="2">
                  <c:v>0.499</c:v>
                </c:pt>
                <c:pt idx="3">
                  <c:v>0.477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Error vs horizon (hours ahead)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TFT</c:v>
                </c:pt>
              </c:strCache>
            </c:strRef>
          </c:tx>
          <c:spPr>
            <a:solidFill>
              <a:srgbClr val="00A6C8"/>
            </a:solidFill>
            <a:ln w="25400" cap="flat">
              <a:solidFill>
                <a:srgbClr val="00A6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A6C8"/>
              </a:solidFill>
              <a:ln w="9525" cap="flat">
                <a:solidFill>
                  <a:srgbClr val="00A6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1</c:v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2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3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0.372</c:v>
                </c:pt>
                <c:pt idx="1">
                  <c:v>0.408</c:v>
                </c:pt>
                <c:pt idx="2">
                  <c:v>0.436</c:v>
                </c:pt>
                <c:pt idx="3">
                  <c:v>0.458</c:v>
                </c:pt>
                <c:pt idx="4">
                  <c:v>0.474</c:v>
                </c:pt>
                <c:pt idx="5">
                  <c:v>0.488</c:v>
                </c:pt>
                <c:pt idx="6">
                  <c:v>0.499</c:v>
                </c:pt>
                <c:pt idx="7">
                  <c:v>0.506</c:v>
                </c:pt>
                <c:pt idx="8">
                  <c:v>0.513</c:v>
                </c:pt>
                <c:pt idx="9">
                  <c:v>0.518</c:v>
                </c:pt>
                <c:pt idx="10">
                  <c:v>0.522</c:v>
                </c:pt>
                <c:pt idx="11">
                  <c:v>0.526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5B7FA6"/>
            </a:solidFill>
            <a:ln w="25400" cap="flat">
              <a:solidFill>
                <a:srgbClr val="5B7F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7FA6"/>
              </a:solidFill>
              <a:ln w="9525" cap="flat">
                <a:solidFill>
                  <a:srgbClr val="5B7F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1</c:v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2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3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0.369</c:v>
                </c:pt>
                <c:pt idx="1">
                  <c:v>0.414</c:v>
                </c:pt>
                <c:pt idx="2">
                  <c:v>0.447</c:v>
                </c:pt>
                <c:pt idx="3">
                  <c:v>0.473</c:v>
                </c:pt>
                <c:pt idx="4">
                  <c:v>0.494</c:v>
                </c:pt>
                <c:pt idx="5">
                  <c:v>0.509</c:v>
                </c:pt>
                <c:pt idx="6">
                  <c:v>0.525</c:v>
                </c:pt>
                <c:pt idx="7">
                  <c:v>0.536</c:v>
                </c:pt>
                <c:pt idx="8">
                  <c:v>0.544</c:v>
                </c:pt>
                <c:pt idx="9">
                  <c:v>0.554</c:v>
                </c:pt>
                <c:pt idx="10">
                  <c:v>0.558</c:v>
                </c:pt>
                <c:pt idx="11">
                  <c:v>0.565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9AA8B8"/>
            </a:solidFill>
            <a:ln w="25400" cap="flat">
              <a:solidFill>
                <a:srgbClr val="9AA8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8B8"/>
              </a:solidFill>
              <a:ln w="9525" cap="flat">
                <a:solidFill>
                  <a:srgbClr val="9AA8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>1</c:v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2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>3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0.449</c:v>
                </c:pt>
                <c:pt idx="1">
                  <c:v>0.51</c:v>
                </c:pt>
                <c:pt idx="2">
                  <c:v>0.565</c:v>
                </c:pt>
                <c:pt idx="3">
                  <c:v>0.611</c:v>
                </c:pt>
                <c:pt idx="4">
                  <c:v>0.657</c:v>
                </c:pt>
                <c:pt idx="5">
                  <c:v>0.704</c:v>
                </c:pt>
                <c:pt idx="6">
                  <c:v>0.743</c:v>
                </c:pt>
                <c:pt idx="7">
                  <c:v>0.782</c:v>
                </c:pt>
                <c:pt idx="8">
                  <c:v>0.822</c:v>
                </c:pt>
                <c:pt idx="9">
                  <c:v>0.854</c:v>
                </c:pt>
                <c:pt idx="10">
                  <c:v>0.886</c:v>
                </c:pt>
                <c:pt idx="11">
                  <c:v>0.915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3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6035040" cy="685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"/>
            <a:ext cx="868680" cy="868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234440"/>
            <a:ext cx="9144000" cy="1874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ECE  ·  MACHINE LEARNING  ·  A.Y. 2026-27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Fusion Transformer-Based Multi-KPI Forecasting for Proactive Open RAN Control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Presentation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39312"/>
          <a:ext cx="4206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Chandra Nikhilesh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2520040091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Sujeeth Reddy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2520040025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Charan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2520040021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1206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120640" y="36393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&lt;Guide Name&gt;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&lt;Designation, Department&gt;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2 /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RAN makes the radio network open and programmable through RAN Intelligent Controllers (RICs). Network KPIs still change constantly with traffic, mobility and radio conditions.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26060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dynamic KPIs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807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Throughput, latency, packet loss, PRB utilisation and active users vary sharply over time and between cells.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64408" y="1645920"/>
            <a:ext cx="26060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93008" y="182880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709" y="19495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93008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control is late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93008" y="2807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control acts only after congestion or QoS degradation is detected, so users are already affected.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71616" y="1645920"/>
            <a:ext cx="2606040" cy="20116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00216" y="1828800"/>
            <a:ext cx="548640" cy="54864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17" y="194950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0216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KPI models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300216" y="28072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one KPI at a time ignores the strong coupling between load, resources and QoS.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forecast multiple KPIs several steps ahead with a Temporal Fusion Transformer, so the RIC can act before degradation happens.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Temporal Fusion Transformer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3 /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828800" cy="713232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0058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ID embedding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1828800" cy="713232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87452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observed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KPIs, last 12 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1828800" cy="713232"/>
          </a:xfrm>
          <a:prstGeom prst="rect">
            <a:avLst/>
          </a:prstGeom>
          <a:solidFill>
            <a:srgbClr val="EEF3F8"/>
          </a:solidFill>
          <a:ln w="9525">
            <a:solidFill>
              <a:srgbClr val="C9D6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743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future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day, day of week, weekend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1417320"/>
            <a:ext cx="1371600" cy="9144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9748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Selection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2395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which inputs matter at each step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87368" y="1874520"/>
            <a:ext cx="14630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251960" y="1417320"/>
            <a:ext cx="1371600" cy="9144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5196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Encoder–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251960" y="2395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temporal patterns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41848" y="1874520"/>
            <a:ext cx="14630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806440" y="1417320"/>
            <a:ext cx="1371600" cy="9144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2395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dependencies, interpretable weights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96328" y="1874520"/>
            <a:ext cx="146304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360920" y="1417320"/>
            <a:ext cx="1371600" cy="914400"/>
          </a:xfrm>
          <a:prstGeom prst="rect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6092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360920" y="23957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/ P50 / P90 for all 5 KPIs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0" y="1874520"/>
            <a:ext cx="4114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269748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Residual Networks (GRN) and gating layers wrap every block and suppress unneeded components.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TFT?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Multi-horizon, multi-variate forecasts in a single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known future inputs (calendar/time) alongside past KPIs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variable importance and attention show why a forecast was made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outputs give uncertainty bands for risk-aware control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Forecast-Driven Proactive Control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4 /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996696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996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96012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960120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of the last 48 steps (12 h, 15-min interval) of 5 KPIs plus time covariates for each cell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563624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40280" y="1563624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 using training-set statistics only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203704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16712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240280" y="2167128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predicts the next 12 steps (3 h) for all KPIs at quantiles q = 0.1, 0.5, 0.9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2807208"/>
            <a:ext cx="420624" cy="42062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277063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240280" y="2770632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quantile (pinball) loss  L = Σ max(q·e, (q−1)·e),  where e = y − ŷ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3410712"/>
            <a:ext cx="420624" cy="420624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337413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240280" y="3374136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predicted P90 PRB utilisation or latency crosses a threshold → raise an early alert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014216"/>
            <a:ext cx="420624" cy="420624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97764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240280" y="3977640"/>
            <a:ext cx="6400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 xApp adjusts PRB allocation, load balancing or handover policy ahead of time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Workflow &amp; Implementation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5 /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261872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" y="1143000"/>
            <a:ext cx="502920" cy="50292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18" y="125364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0352" y="17373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/ simulation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30352" y="2240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KPI time series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847088" y="1005840"/>
            <a:ext cx="1261872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226564" y="1143000"/>
            <a:ext cx="502920" cy="50292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206" y="125364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920240" y="17373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920240" y="2240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scaling, time features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36976" y="1005840"/>
            <a:ext cx="1261872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16452" y="1143000"/>
            <a:ext cx="502920" cy="50292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94" y="1253642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310128" y="17373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generation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3310128" y="2240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 input → 3 h output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26864" y="1005840"/>
            <a:ext cx="1261872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06340" y="1143000"/>
            <a:ext cx="502920" cy="50292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982" y="1253642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700016" y="17373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TFT training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4700016" y="2240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loss, early stopping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016752" y="1005840"/>
            <a:ext cx="1261872" cy="18288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396228" y="1143000"/>
            <a:ext cx="502920" cy="50292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870" y="1253642"/>
            <a:ext cx="281635" cy="28163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089904" y="17373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forecasting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6089904" y="2240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with P10/P50/P90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406640" y="1005840"/>
            <a:ext cx="1261872" cy="1828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786116" y="1143000"/>
            <a:ext cx="502920" cy="502920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758" y="1253642"/>
            <a:ext cx="281635" cy="28163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479792" y="173736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control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479792" y="224028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RIC policy actions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runs in O-RAN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457200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9436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Non-RT RIC (rApp)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59436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training and periodic re-training on KPI history (&gt; 1 s loop)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3264408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3401568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Near-RT RIC (xApp)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3401568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inference and control actions (10 ms – 1 s loop)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071616" y="338328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5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6208776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nodes (O-CU / O-DU)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6208776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KPIs over E2 and apply the chosen policy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3, PyTorch, NumPy / pandas, scikit-learn, Matplotlib, Google Colab / Jupyter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Setup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6 /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1920240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O-RAN cells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960120"/>
            <a:ext cx="1920240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@ 15-min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1920240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forecast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960120"/>
            <a:ext cx="1920240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→ 12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→ out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per-cell KPIs: daily and weekly traffic cycles, random traffic bursts, congestion-coupled latency and packet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(Mbps), latency (ms), packet loss (%), PRB utilisation (%), active 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Chronological 70 / 15 / 15 % → train / validation / test (4,716 test windows)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size 48, 4 attention heads, ≈ 313 k parameters, Adam, 20 epochs, best-validation checkpoint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(last value), seasonal naive (same time yesterday), 2-layer LSTM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RMSE, MAPE per KPI; prediction-interval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Forecast Accuracy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7 / 10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3749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38912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per KPI (3-h horizon average)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234440"/>
          <a:ext cx="4297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868680"/>
                <a:gridCol w="8686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(Mbps)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(ms)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loss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PRB util. (%)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C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33 % lower error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persistence and </a:t>
            </a:r>
            <a:pPr indent="0" marL="0">
              <a:buNone/>
            </a:pPr>
            <a:r>
              <a:rPr lang="en-US" sz="1300" b="1" dirty="0">
                <a:solidFill>
                  <a:srgbClr val="007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4.5 % lower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LSTM. TFT gives the lowest MAE on every KPI, and RMSE follows the same trend.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Forecast Behaviour &amp; Interpretability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8 / 10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6112"/>
            <a:ext cx="5486400" cy="20756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PRB utilisation, 1-h-ahead TFT forecast vs actual on unseen test data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35040" y="868680"/>
          <a:ext cx="2743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3383280"/>
            <a:ext cx="260604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9436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79.6 %</a:t>
            </a:r>
            <a:endParaRPr lang="en-US" sz="2200" dirty="0"/>
          </a:p>
        </p:txBody>
      </p:sp>
      <p:sp>
        <p:nvSpPr>
          <p:cNvPr id="10" name="Text 5"/>
          <p:cNvSpPr txBox="1"/>
          <p:nvPr/>
        </p:nvSpPr>
        <p:spPr>
          <a:xfrm>
            <a:off x="594360" y="3886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values fall inside the P10–P90 band (target 80 %), so the uncertainty is well calibrated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264408" y="3383280"/>
            <a:ext cx="260604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401568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−42 %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3401568" y="3886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 persistence at the 3-h horizon; TFT degrades slowest as the horizon grows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071616" y="3383280"/>
            <a:ext cx="2606040" cy="1234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08776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6208776" y="3886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important input (39 % VSN weight), followed by throughput (13 %) and PRB (11 %)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&amp; Remaining Work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01168"/>
            <a:ext cx="566928" cy="566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Multi-KPI Forecasting for Proactive Open RAN Control   |   9 / 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3977640" cy="36118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2E9E6A"/>
          </a:solidFill>
          <a:ln w="12700">
            <a:solidFill>
              <a:srgbClr val="2E9E6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197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on O-RAN, RIC and time-series forecasting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Multi-KPI O-RAN traffic simulator built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and sliding-window pipeline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implemented and trained with quantile loss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(persistence, seasonal naive, LSTM) compared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horizon and interpretability analysis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09160" y="960120"/>
            <a:ext cx="3977640" cy="36118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1978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a real / testbed O-RAN KPI dataset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and ablation (without attention / VSN)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proactive control module (threshold alerts to PRB and load-balancing actions)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early-warning lead time and precision on congestion events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an xApp prototype and write the final report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7432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347472"/>
            <a:ext cx="905256" cy="905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1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TFT model forecasts 5 O-RAN KPIs up to 3 h ahead, with calibrated uncertainty.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simulated data it beats persistence by 33 % and LSTM by 4.5 %, with the widest gain at longer horizons.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outputs show why a forecast was made, which builds operator trust.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real-data validation and closing the loop with RIC control actions.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TFT-Based Multi-KPI Forecasting for Proactive Open RAN Control</dc:title>
  <dc:subject>PptxGenJS Presentation</dc:subject>
  <dc:creator>PptxGenJS</dc:creator>
  <cp:lastModifiedBy>PptxGenJS</cp:lastModifiedBy>
  <cp:revision>1</cp:revision>
  <dcterms:created xsi:type="dcterms:W3CDTF">2026-09-26T06:31:37Z</dcterms:created>
  <dcterms:modified xsi:type="dcterms:W3CDTF">2026-09-26T06:31:37Z</dcterms:modified>
</cp:coreProperties>
</file>